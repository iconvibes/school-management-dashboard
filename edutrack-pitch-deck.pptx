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280160"/>
            <a:ext cx="4754880" cy="4754880"/>
          </a:xfrm>
          <a:prstGeom prst="ellipse">
            <a:avLst/>
          </a:prstGeom>
          <a:solidFill>
            <a:srgbClr val="2563EB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4754880"/>
            <a:ext cx="4023360" cy="4023360"/>
          </a:xfrm>
          <a:prstGeom prst="ellipse">
            <a:avLst/>
          </a:prstGeom>
          <a:solidFill>
            <a:srgbClr val="A78BFA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224528" y="566928"/>
            <a:ext cx="1188720" cy="11887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4224528" y="566928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486400" y="566928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</a:t>
            </a:r>
            <a:pPr indent="0" marL="0">
              <a:buNone/>
            </a:pPr>
            <a:r>
              <a:rPr lang="en-US" sz="4400" b="1" dirty="0">
                <a:solidFill>
                  <a:srgbClr val="60A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207008" y="2103120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ALL-IN-ONE CLOUD PLATFORM FOR MODERN SCHOOLS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07008" y="2487168"/>
            <a:ext cx="9784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your entire school from
</a:t>
            </a:r>
            <a:pPr algn="ctr" indent="0" marL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60A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cloud platform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1664208" y="4041648"/>
            <a:ext cx="8869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report cards · Live grading · Daily attendance · Fee management · Teacher payroll · A parent portal — built for Nigerian schools, from JSS to SSS.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1597000" y="4864608"/>
            <a:ext cx="137160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97000" y="486460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modules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114904" y="4864608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14904" y="4864608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portals · one login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364328" y="4864608"/>
            <a:ext cx="192024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64328" y="486460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</a:t>
            </a:r>
            <a:pPr algn="ctr"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device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430872" y="4864608"/>
            <a:ext cx="201168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30872" y="4864608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Installable as an </a:t>
            </a:r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588856" y="4864608"/>
            <a:ext cx="100584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88856" y="4864608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paper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93208" y="5541264"/>
            <a:ext cx="128016" cy="12801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2898648" y="54681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pilot term for your school — no card required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813048" y="60533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Ferdinard Ashonibare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206240" cy="4206240"/>
          </a:xfrm>
          <a:prstGeom prst="ellipse">
            <a:avLst/>
          </a:prstGeom>
          <a:solidFill>
            <a:srgbClr val="F43F5E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55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a school today is paper,
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notebooks &amp; 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2-week report cards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847088"/>
            <a:ext cx="5422392" cy="1700784"/>
          </a:xfrm>
          <a:prstGeom prst="roundRect">
            <a:avLst>
              <a:gd name="adj" fmla="val 4839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029968"/>
            <a:ext cx="402336" cy="402336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0299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97864" y="1993392"/>
            <a:ext cx="4581144" cy="257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cards take weeks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197864" y="2322576"/>
            <a:ext cx="458114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Handwritten or Excel report cards mean a term-end crunch — teachers burn out and parents wait weeks for results.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63640" y="1847088"/>
            <a:ext cx="5422392" cy="1700784"/>
          </a:xfrm>
          <a:prstGeom prst="roundRect">
            <a:avLst>
              <a:gd name="adj" fmla="val 4839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46520" y="2029968"/>
            <a:ext cx="402336" cy="402336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20299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958584" y="1993392"/>
            <a:ext cx="4581144" cy="257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Fees live in notebooks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958584" y="2322576"/>
            <a:ext cx="458114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 tracked in jotter books and spreadsheets — collections leak and nobody knows who truly hasn't paid.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3730752"/>
            <a:ext cx="5422392" cy="1700784"/>
          </a:xfrm>
          <a:prstGeom prst="roundRect">
            <a:avLst>
              <a:gd name="adj" fmla="val 4839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3913632"/>
            <a:ext cx="402336" cy="402336"/>
          </a:xfrm>
          <a:prstGeom prst="roundRect">
            <a:avLst>
              <a:gd name="adj" fmla="val 25000"/>
            </a:avLst>
          </a:prstGeom>
          <a:solidFill>
            <a:srgbClr val="A78BFA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9136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◔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97864" y="3877056"/>
            <a:ext cx="4581144" cy="257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is guesswork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197864" y="4206240"/>
            <a:ext cx="458114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record of who's in class day to day — and nothing connects attendance to results or reports.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63640" y="3730752"/>
            <a:ext cx="5422392" cy="1700784"/>
          </a:xfrm>
          <a:prstGeom prst="roundRect">
            <a:avLst>
              <a:gd name="adj" fmla="val 4839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46520" y="3913632"/>
            <a:ext cx="402336" cy="402336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6446520" y="39136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958584" y="3877056"/>
            <a:ext cx="4581144" cy="257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are in the dark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958584" y="4206240"/>
            <a:ext cx="458114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only hear about results, attendance and fees when they ask — or when it's too late.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02920" y="565099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result: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painful term-end crunch, uncertain cash flow,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no single dashboard where the school owner can see everything.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2920" y="644652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EduTrack — School Management Platform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28832" y="64465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4663440"/>
            <a:ext cx="4023360" cy="4023360"/>
          </a:xfrm>
          <a:prstGeom prst="ellipse">
            <a:avLst/>
          </a:prstGeom>
          <a:solidFill>
            <a:srgbClr val="2563EB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55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Edutrack puts your whole school
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one cloud platform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237744" cy="237744"/>
          </a:xfrm>
          <a:prstGeom prst="ellipse">
            <a:avLst/>
          </a:prstGeom>
          <a:solidFill>
            <a:srgbClr val="10B981">
              <a:alpha val="18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8745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86968" y="1847088"/>
            <a:ext cx="10222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login, four portals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Super Admin, Teacher, Student and Parent each see exactly what they should.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624328"/>
            <a:ext cx="237744" cy="237744"/>
          </a:xfrm>
          <a:prstGeom prst="ellipse">
            <a:avLst/>
          </a:prstGeom>
          <a:solidFill>
            <a:srgbClr val="10B981">
              <a:alpha val="18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6243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86968" y="2596896"/>
            <a:ext cx="10222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in any browser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phones, tablets, laptops and shared school computers. No software to install on school machines.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3374136"/>
            <a:ext cx="237744" cy="237744"/>
          </a:xfrm>
          <a:prstGeom prst="ellipse">
            <a:avLst/>
          </a:prstGeom>
          <a:solidFill>
            <a:srgbClr val="10B981">
              <a:alpha val="18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3741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86968" y="3346704"/>
            <a:ext cx="10222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Installable as an app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teachers and admins can pin Edutrack to their Android or Windows device like a native app.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4123944"/>
            <a:ext cx="237744" cy="237744"/>
          </a:xfrm>
          <a:prstGeom prst="ellipse">
            <a:avLst/>
          </a:prstGeom>
          <a:solidFill>
            <a:srgbClr val="10B981">
              <a:alpha val="18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12394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86968" y="4096512"/>
            <a:ext cx="10222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&amp; secure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every school gets a fully isolated space; your data can never mix with another school's.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5074920"/>
            <a:ext cx="1783080" cy="960120"/>
          </a:xfrm>
          <a:prstGeom prst="roundRect">
            <a:avLst>
              <a:gd name="adj" fmla="val 9524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518464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0A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02920" y="5586984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423160" y="5074920"/>
            <a:ext cx="1783080" cy="960120"/>
          </a:xfrm>
          <a:prstGeom prst="roundRect">
            <a:avLst>
              <a:gd name="adj" fmla="val 9524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23160" y="518464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2423160" y="5586984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PORTALS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343400" y="5074920"/>
            <a:ext cx="1783080" cy="960120"/>
          </a:xfrm>
          <a:prstGeom prst="roundRect">
            <a:avLst>
              <a:gd name="adj" fmla="val 9524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43400" y="518464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343400" y="5586984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263640" y="5074920"/>
            <a:ext cx="1783080" cy="960120"/>
          </a:xfrm>
          <a:prstGeom prst="roundRect">
            <a:avLst>
              <a:gd name="adj" fmla="val 9524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63640" y="518464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263640" y="5586984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NEEDED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02920" y="644652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EduTrack — School Management Platform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28832" y="64465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GET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55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</a:t>
            </a:r>
            <a:pPr algn="l" indent="0" marL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modules. One platform.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2697480" cy="1755648"/>
          </a:xfrm>
          <a:prstGeom prst="roundRect">
            <a:avLst>
              <a:gd name="adj" fmla="val 4688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965960"/>
            <a:ext cx="402336" cy="402336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965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97864" y="1929384"/>
            <a:ext cx="185623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Cards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97864" y="2258568"/>
            <a:ext cx="185623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 PDF, one click.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01568" y="1783080"/>
            <a:ext cx="2697480" cy="1755648"/>
          </a:xfrm>
          <a:prstGeom prst="roundRect">
            <a:avLst>
              <a:gd name="adj" fmla="val 4688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84448" y="1965960"/>
            <a:ext cx="402336" cy="402336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3584448" y="1965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096512" y="1929384"/>
            <a:ext cx="185623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Grading Matrix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096512" y="2258568"/>
            <a:ext cx="185623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 compute live.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0216" y="1783080"/>
            <a:ext cx="2697480" cy="1755648"/>
          </a:xfrm>
          <a:prstGeom prst="roundRect">
            <a:avLst>
              <a:gd name="adj" fmla="val 4688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83096" y="1965960"/>
            <a:ext cx="402336" cy="402336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6483096" y="1965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◔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995160" y="1929384"/>
            <a:ext cx="185623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995160" y="2258568"/>
            <a:ext cx="185623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registers.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98864" y="1783080"/>
            <a:ext cx="2697480" cy="1755648"/>
          </a:xfrm>
          <a:prstGeom prst="roundRect">
            <a:avLst>
              <a:gd name="adj" fmla="val 4688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81744" y="1965960"/>
            <a:ext cx="402336" cy="402336"/>
          </a:xfrm>
          <a:prstGeom prst="roundRect">
            <a:avLst>
              <a:gd name="adj" fmla="val 25000"/>
            </a:avLst>
          </a:prstGeom>
          <a:solidFill>
            <a:srgbClr val="A78BFA"/>
          </a:solidFill>
          <a:ln/>
        </p:spPr>
      </p:sp>
      <p:sp>
        <p:nvSpPr>
          <p:cNvPr id="21" name="Text 19"/>
          <p:cNvSpPr/>
          <p:nvPr/>
        </p:nvSpPr>
        <p:spPr>
          <a:xfrm>
            <a:off x="9381744" y="1965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893808" y="1929384"/>
            <a:ext cx="185623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Management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893808" y="2258568"/>
            <a:ext cx="185623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balances &amp; receipts.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3749040"/>
            <a:ext cx="2697480" cy="1755648"/>
          </a:xfrm>
          <a:prstGeom prst="roundRect">
            <a:avLst>
              <a:gd name="adj" fmla="val 4688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" y="3931920"/>
            <a:ext cx="402336" cy="402336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3931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197864" y="3895344"/>
            <a:ext cx="185623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Payroll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97864" y="4224528"/>
            <a:ext cx="185623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/ pending at a glance.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401568" y="3749040"/>
            <a:ext cx="2697480" cy="1755648"/>
          </a:xfrm>
          <a:prstGeom prst="roundRect">
            <a:avLst>
              <a:gd name="adj" fmla="val 4688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584448" y="3931920"/>
            <a:ext cx="402336" cy="402336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/>
        </p:spPr>
      </p:sp>
      <p:sp>
        <p:nvSpPr>
          <p:cNvPr id="31" name="Text 29"/>
          <p:cNvSpPr/>
          <p:nvPr/>
        </p:nvSpPr>
        <p:spPr>
          <a:xfrm>
            <a:off x="3584448" y="3931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096512" y="3895344"/>
            <a:ext cx="185623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Portal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096512" y="4224528"/>
            <a:ext cx="185623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Results, fees &amp; Pay Now.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300216" y="3749040"/>
            <a:ext cx="2697480" cy="1755648"/>
          </a:xfrm>
          <a:prstGeom prst="roundRect">
            <a:avLst>
              <a:gd name="adj" fmla="val 4688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83096" y="3931920"/>
            <a:ext cx="402336" cy="402336"/>
          </a:xfrm>
          <a:prstGeom prst="roundRect">
            <a:avLst>
              <a:gd name="adj" fmla="val 25000"/>
            </a:avLst>
          </a:prstGeom>
          <a:solidFill>
            <a:srgbClr val="A78BFA"/>
          </a:solidFill>
          <a:ln/>
        </p:spPr>
      </p:sp>
      <p:sp>
        <p:nvSpPr>
          <p:cNvPr id="36" name="Text 34"/>
          <p:cNvSpPr/>
          <p:nvPr/>
        </p:nvSpPr>
        <p:spPr>
          <a:xfrm>
            <a:off x="6483096" y="3931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995160" y="3895344"/>
            <a:ext cx="185623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995160" y="4224528"/>
            <a:ext cx="185623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 fully isolated.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9198864" y="3749040"/>
            <a:ext cx="2697480" cy="1755648"/>
          </a:xfrm>
          <a:prstGeom prst="roundRect">
            <a:avLst>
              <a:gd name="adj" fmla="val 4688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381744" y="3931920"/>
            <a:ext cx="402336" cy="402336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/>
        </p:spPr>
      </p:sp>
      <p:sp>
        <p:nvSpPr>
          <p:cNvPr id="41" name="Text 39"/>
          <p:cNvSpPr/>
          <p:nvPr/>
        </p:nvSpPr>
        <p:spPr>
          <a:xfrm>
            <a:off x="9381744" y="3931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9893808" y="3895344"/>
            <a:ext cx="185623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Installable App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9893808" y="4224528"/>
            <a:ext cx="185623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&amp; Windows.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02920" y="644652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EduTrack — School Management Platform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228832" y="64465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05840" y="4937760"/>
            <a:ext cx="3840480" cy="3840480"/>
          </a:xfrm>
          <a:prstGeom prst="ellipse">
            <a:avLst/>
          </a:prstGeom>
          <a:solidFill>
            <a:srgbClr val="10B981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SPOTLIGHT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55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 cards in 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minutes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not weeks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837944"/>
            <a:ext cx="237744" cy="237744"/>
          </a:xfrm>
          <a:prstGeom prst="ellipse">
            <a:avLst/>
          </a:prstGeom>
          <a:solidFill>
            <a:srgbClr val="10B981">
              <a:alpha val="18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83794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86968" y="1810512"/>
            <a:ext cx="59253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 A4 PDF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your school's logo and colors — printed or shared as-is.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606040"/>
            <a:ext cx="237744" cy="237744"/>
          </a:xfrm>
          <a:prstGeom prst="ellipse">
            <a:avLst/>
          </a:prstGeom>
          <a:solidFill>
            <a:srgbClr val="10B981">
              <a:alpha val="18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6060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86968" y="2578608"/>
            <a:ext cx="59253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positions, subject remarks, attendance and signature blocks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all on one card.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3374136"/>
            <a:ext cx="237744" cy="237744"/>
          </a:xfrm>
          <a:prstGeom prst="ellipse">
            <a:avLst/>
          </a:prstGeom>
          <a:solidFill>
            <a:srgbClr val="10B981">
              <a:alpha val="18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3741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86968" y="3346704"/>
            <a:ext cx="59253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in one click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by teachers, admins — and viewed instantly by students and parents.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4142232"/>
            <a:ext cx="237744" cy="237744"/>
          </a:xfrm>
          <a:prstGeom prst="ellipse">
            <a:avLst/>
          </a:prstGeom>
          <a:solidFill>
            <a:srgbClr val="10B981">
              <a:alpha val="18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1422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86968" y="4114800"/>
            <a:ext cx="59253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Auto-ranked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best students surface automatically, by average, per class arm.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178040" y="1874520"/>
            <a:ext cx="4480560" cy="137160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12700">
            <a:solidFill>
              <a:srgbClr val="3B4A6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52360" y="205740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weeks → 3 minutes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7452360" y="2532888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handwriting to printed branded report cards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178040" y="3429000"/>
            <a:ext cx="4480560" cy="137160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12700">
            <a:solidFill>
              <a:srgbClr val="3B4A6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52360" y="361188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60A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7452360" y="4087368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format — no more uneven handwriting or layout errors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644652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EduTrack — School Management Platform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28832" y="64465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TEACHERS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55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instant 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grading matrix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847088"/>
            <a:ext cx="5422392" cy="1810512"/>
          </a:xfrm>
          <a:prstGeom prst="roundRect">
            <a:avLst>
              <a:gd name="adj" fmla="val 4545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029968"/>
            <a:ext cx="402336" cy="402336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0299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97864" y="1993392"/>
            <a:ext cx="4581144" cy="257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scores, watch grades appear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197864" y="2322576"/>
            <a:ext cx="458114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CA (out of 40) and Exam (out of 60) — totals and letter grades (A–F) compute live as teachers type. No calculators, no look-up tables.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847088"/>
            <a:ext cx="5422392" cy="1810512"/>
          </a:xfrm>
          <a:prstGeom prst="roundRect">
            <a:avLst>
              <a:gd name="adj" fmla="val 4545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2029968"/>
            <a:ext cx="402336" cy="402336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20299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958584" y="1993392"/>
            <a:ext cx="4581144" cy="257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class arm, per subject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958584" y="2322576"/>
            <a:ext cx="458114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stream — SS1 Science, SS1 Arts, JSS — keeps its own matrix and its own roster. Teachers only ever see their own classes.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3822192"/>
            <a:ext cx="5422392" cy="1810512"/>
          </a:xfrm>
          <a:prstGeom prst="roundRect">
            <a:avLst>
              <a:gd name="adj" fmla="val 4545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4005072"/>
            <a:ext cx="402336" cy="402336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4005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97864" y="3968496"/>
            <a:ext cx="4581144" cy="257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save with safety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197864" y="4297680"/>
            <a:ext cx="458114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Unsaved changes are flagged, and one click saves the whole class. Scores feed straight into report cards and rankings.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3822192"/>
            <a:ext cx="5422392" cy="1810512"/>
          </a:xfrm>
          <a:prstGeom prst="roundRect">
            <a:avLst>
              <a:gd name="adj" fmla="val 4545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520" y="4005072"/>
            <a:ext cx="402336" cy="402336"/>
          </a:xfrm>
          <a:prstGeom prst="roundRect">
            <a:avLst>
              <a:gd name="adj" fmla="val 25000"/>
            </a:avLst>
          </a:prstGeom>
          <a:solidFill>
            <a:srgbClr val="A78BFA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4005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58584" y="3968496"/>
            <a:ext cx="4581144" cy="257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students, auto-ranked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958584" y="4297680"/>
            <a:ext cx="458114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dashboard surfaces the top performers by average — perfect for prizes, assembly and records.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02920" y="644652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EduTrack — School Management Platform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28832" y="64465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188720"/>
            <a:ext cx="3657600" cy="3657600"/>
          </a:xfrm>
          <a:prstGeom prst="ellipse">
            <a:avLst/>
          </a:prstGeom>
          <a:solidFill>
            <a:srgbClr val="F59E0B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55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Attendance in 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tap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per student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3611880" cy="20574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011680"/>
            <a:ext cx="402336" cy="402336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011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◔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97864" y="1975104"/>
            <a:ext cx="277063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registers per class arm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97864" y="2304288"/>
            <a:ext cx="2770632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open their class, tap Present / Absent for each student, and save. Done in under a minute.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3400" y="1828800"/>
            <a:ext cx="3611880" cy="20574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26280" y="2011680"/>
            <a:ext cx="402336" cy="402336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2011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38344" y="1975104"/>
            <a:ext cx="277063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 onto report cards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38344" y="2304288"/>
            <a:ext cx="2770632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present are summarized per student per term — automatically included on every report card.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83880" y="1828800"/>
            <a:ext cx="3611880" cy="20574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66760" y="2011680"/>
            <a:ext cx="402336" cy="402336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8366760" y="2011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878824" y="1975104"/>
            <a:ext cx="277063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problems early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878824" y="2304288"/>
            <a:ext cx="2770632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see trends across classes — who's slipping, which class has the lowest turnout, and when to call a parent.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2920" y="43159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is no longer guesswork — it's </a:t>
            </a:r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record that works for you</a:t>
            </a:r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every single day.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2920" y="644652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EduTrack — School Management Platform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28832" y="64465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PARENTS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55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Fees that 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 themselves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856232"/>
            <a:ext cx="237744" cy="237744"/>
          </a:xfrm>
          <a:prstGeom prst="ellipse">
            <a:avLst/>
          </a:prstGeom>
          <a:solidFill>
            <a:srgbClr val="10B981">
              <a:alpha val="18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8562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86968" y="1828800"/>
            <a:ext cx="59253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structures per class arm &amp; term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set once, billed automatically.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624328"/>
            <a:ext cx="237744" cy="237744"/>
          </a:xfrm>
          <a:prstGeom prst="ellipse">
            <a:avLst/>
          </a:prstGeom>
          <a:solidFill>
            <a:srgbClr val="10B981">
              <a:alpha val="18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6243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86968" y="2596896"/>
            <a:ext cx="59253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balances &amp; auto receipts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every student's paid / owing at a glance, plus a defaulter list.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3392424"/>
            <a:ext cx="237744" cy="237744"/>
          </a:xfrm>
          <a:prstGeom prst="ellipse">
            <a:avLst/>
          </a:prstGeom>
          <a:solidFill>
            <a:srgbClr val="10B981">
              <a:alpha val="18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3924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86968" y="3364992"/>
            <a:ext cx="59253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log in, see balances, tap Pay Now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from their phone, anytime.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4160520"/>
            <a:ext cx="237744" cy="237744"/>
          </a:xfrm>
          <a:prstGeom prst="ellipse">
            <a:avLst/>
          </a:prstGeom>
          <a:solidFill>
            <a:srgbClr val="10B981">
              <a:alpha val="18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41605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86968" y="4133088"/>
            <a:ext cx="59253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Anti-fraud by design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online payments wait for your confirmation before balances move. You're always in control.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178040" y="1874520"/>
            <a:ext cx="4480560" cy="137160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12700">
            <a:solidFill>
              <a:srgbClr val="3B4A6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52360" y="205740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7452360" y="2532888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fee collection when parents can pay online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178040" y="3429000"/>
            <a:ext cx="4480560" cy="137160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12700">
            <a:solidFill>
              <a:srgbClr val="3B4A6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52360" y="361188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tap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7452360" y="4087368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parent to pay — and 1 tap for you to confirm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644652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EduTrack — School Management Platform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28832" y="64465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4754880"/>
            <a:ext cx="3474720" cy="3474720"/>
          </a:xfrm>
          <a:prstGeom prst="ellipse">
            <a:avLst/>
          </a:prstGeom>
          <a:solidFill>
            <a:srgbClr val="A78BFA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55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 payroll, 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always up to date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3611880" cy="2011680"/>
          </a:xfrm>
          <a:prstGeom prst="roundRect">
            <a:avLst>
              <a:gd name="adj" fmla="val 4091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011680"/>
            <a:ext cx="402336" cy="402336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011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97864" y="1975104"/>
            <a:ext cx="277063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/ pending in one click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97864" y="2304288"/>
            <a:ext cx="2770632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salaries as paid or pending as you disburse — the record updates instantly.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3400" y="1828800"/>
            <a:ext cx="3611880" cy="2011680"/>
          </a:xfrm>
          <a:prstGeom prst="roundRect">
            <a:avLst>
              <a:gd name="adj" fmla="val 4091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26280" y="2011680"/>
            <a:ext cx="402336" cy="402336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2011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◔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38344" y="1975104"/>
            <a:ext cx="277063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metrics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38344" y="2304288"/>
            <a:ext cx="2770632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paid counts, pending counts and staff totals at a glance — no spreadsheet reconciliation.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83880" y="1828800"/>
            <a:ext cx="3611880" cy="2011680"/>
          </a:xfrm>
          <a:prstGeom prst="roundRect">
            <a:avLst>
              <a:gd name="adj" fmla="val 4091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66760" y="2011680"/>
            <a:ext cx="402336" cy="402336"/>
          </a:xfrm>
          <a:prstGeom prst="roundRect">
            <a:avLst>
              <a:gd name="adj" fmla="val 25000"/>
            </a:avLst>
          </a:prstGeom>
          <a:solidFill>
            <a:srgbClr val="A78BFA"/>
          </a:solidFill>
          <a:ln/>
        </p:spPr>
      </p:sp>
      <p:sp>
        <p:nvSpPr>
          <p:cNvPr id="17" name="Text 15"/>
          <p:cNvSpPr/>
          <p:nvPr/>
        </p:nvSpPr>
        <p:spPr>
          <a:xfrm>
            <a:off x="8366760" y="2011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878824" y="1975104"/>
            <a:ext cx="277063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staff directory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878824" y="2304288"/>
            <a:ext cx="2770632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teacher, their class arm and their payroll status — one list, always current.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2920" y="42976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questions disappear — the answer is </a:t>
            </a:r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one click away</a:t>
            </a:r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2920" y="644652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EduTrack — School Management Platform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28832" y="64465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TRUST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55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by design, 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private by default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847088"/>
            <a:ext cx="5422392" cy="1764792"/>
          </a:xfrm>
          <a:prstGeom prst="roundRect">
            <a:avLst>
              <a:gd name="adj" fmla="val 4663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029968"/>
            <a:ext cx="402336" cy="402336"/>
          </a:xfrm>
          <a:prstGeom prst="roundRect">
            <a:avLst>
              <a:gd name="adj" fmla="val 25000"/>
            </a:avLst>
          </a:prstGeom>
          <a:solidFill>
            <a:srgbClr val="A78BFA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0299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97864" y="1993392"/>
            <a:ext cx="4581144" cy="257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isolation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197864" y="2322576"/>
            <a:ext cx="4581144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school's students, scores and finances are completely walled off from every other school — enforced at the data layer, not just the screen.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847088"/>
            <a:ext cx="5422392" cy="1764792"/>
          </a:xfrm>
          <a:prstGeom prst="roundRect">
            <a:avLst>
              <a:gd name="adj" fmla="val 4663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2029968"/>
            <a:ext cx="402336" cy="402336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20299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958584" y="1993392"/>
            <a:ext cx="4581144" cy="257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portals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958584" y="2322576"/>
            <a:ext cx="4581144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Admin, Teacher, Student and Parent each see exactly their own world — nothing more, nothing less.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3794760"/>
            <a:ext cx="5422392" cy="1764792"/>
          </a:xfrm>
          <a:prstGeom prst="roundRect">
            <a:avLst>
              <a:gd name="adj" fmla="val 4663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3977640"/>
            <a:ext cx="402336" cy="402336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977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97864" y="3941064"/>
            <a:ext cx="4581144" cy="257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auth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197864" y="4270248"/>
            <a:ext cx="4581144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are hashed, sessions use secure cookies, and every request is verified server-side.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3794760"/>
            <a:ext cx="5422392" cy="1764792"/>
          </a:xfrm>
          <a:prstGeom prst="roundRect">
            <a:avLst>
              <a:gd name="adj" fmla="val 4663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520" y="3977640"/>
            <a:ext cx="402336" cy="402336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3977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58584" y="3941064"/>
            <a:ext cx="4581144" cy="257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Cloud-hosted &amp; backed up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958584" y="4270248"/>
            <a:ext cx="4581144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from anywhere, on any device — with your data safe in the cloud, not in a filing cabinet.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02920" y="644652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EduTrack — School Management Platform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28832" y="64465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280160"/>
            <a:ext cx="4023360" cy="4023360"/>
          </a:xfrm>
          <a:prstGeom prst="ellipse">
            <a:avLst/>
          </a:prstGeom>
          <a:solidFill>
            <a:srgbClr val="2563EB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55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in 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simple steps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2697480" cy="2377440"/>
          </a:xfrm>
          <a:prstGeom prst="roundRect">
            <a:avLst>
              <a:gd name="adj" fmla="val 3462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02996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60A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31520" y="2697480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your school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3072384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your account in under a minute. No card, no contract.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01568" y="1828800"/>
            <a:ext cx="2697480" cy="2377440"/>
          </a:xfrm>
          <a:prstGeom prst="roundRect">
            <a:avLst>
              <a:gd name="adj" fmla="val 3462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30168" y="202996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60A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3630168" y="2697480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your school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30168" y="3072384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class arms (SS1 Science, JSS…), the term calendar and your branding.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300216" y="1828800"/>
            <a:ext cx="2697480" cy="2377440"/>
          </a:xfrm>
          <a:prstGeom prst="roundRect">
            <a:avLst>
              <a:gd name="adj" fmla="val 3462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28816" y="202996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60A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528816" y="2697480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people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28816" y="3072384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Teachers, students and parents in minutes. Set fee structures per class.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198864" y="1828800"/>
            <a:ext cx="2697480" cy="2377440"/>
          </a:xfrm>
          <a:prstGeom prst="roundRect">
            <a:avLst>
              <a:gd name="adj" fmla="val 3462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27464" y="202996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60A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9427464" y="2697480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Grade, mark &amp; collect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427464" y="3072384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grade and mark daily. Parents see everything and pay online. Print report cards.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02920" y="461772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</a:t>
            </a:r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class arm this week</a:t>
            </a:r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you'll be live before the next staff meeting.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02920" y="644652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EduTrack — School Management Platform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28832" y="64465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PLATFORM, FOUR PORTALS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55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Everyone gets 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their own view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2697480" cy="2377440"/>
          </a:xfrm>
          <a:prstGeom prst="roundRect">
            <a:avLst>
              <a:gd name="adj" fmla="val 3462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002536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 Admin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31520" y="2404872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60A5FA">
              <a:alpha val="12000"/>
            </a:srgbClr>
          </a:solidFill>
          <a:ln w="12700">
            <a:solidFill>
              <a:srgbClr val="60A5FA">
                <a:alpha val="6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4048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/ PROPRIETOR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731520" y="2825496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Everything: students, teachers, fees, payroll, report cards, and school settings.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01568" y="1783080"/>
            <a:ext cx="2697480" cy="2377440"/>
          </a:xfrm>
          <a:prstGeom prst="roundRect">
            <a:avLst>
              <a:gd name="adj" fmla="val 3462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30168" y="2002536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630168" y="2404872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10B981">
              <a:alpha val="12000"/>
            </a:srgbClr>
          </a:solidFill>
          <a:ln w="12700">
            <a:solidFill>
              <a:srgbClr val="10B981">
                <a:alpha val="6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30168" y="24048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630168" y="2825496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classes only: grade, mark attendance, add students, generate report cards.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0216" y="1783080"/>
            <a:ext cx="2697480" cy="2377440"/>
          </a:xfrm>
          <a:prstGeom prst="roundRect">
            <a:avLst>
              <a:gd name="adj" fmla="val 3462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28816" y="2002536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528816" y="2404872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A78BFA">
              <a:alpha val="12000"/>
            </a:srgbClr>
          </a:solidFill>
          <a:ln w="12700">
            <a:solidFill>
              <a:srgbClr val="A78BFA">
                <a:alpha val="6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28816" y="24048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528816" y="2825496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their own results, position, attendance and fee status — nothing else.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98864" y="1783080"/>
            <a:ext cx="2697480" cy="2377440"/>
          </a:xfrm>
          <a:prstGeom prst="roundRect">
            <a:avLst>
              <a:gd name="adj" fmla="val 3462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27464" y="2002536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Parent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9427464" y="2404872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F59E0B">
              <a:alpha val="12000"/>
            </a:srgbClr>
          </a:solidFill>
          <a:ln w="12700">
            <a:solidFill>
              <a:srgbClr val="F59E0B">
                <a:alpha val="6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27464" y="24048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GUARDIAN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9427464" y="2825496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children's report cards, attendance and fee balances — and Pay Now.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4434840"/>
            <a:ext cx="3611880" cy="9144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457200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browser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31520" y="4901184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· tablet · laptop · shared PC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343400" y="4434840"/>
            <a:ext cx="3611880" cy="9144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457200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Installable app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72000" y="4901184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&amp; Windows, like native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183880" y="4434840"/>
            <a:ext cx="3611880" cy="9144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12480" y="457200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training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412480" y="4901184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pick it up in minutes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2920" y="644652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EduTrack — School Management Platform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28832" y="64465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389120" cy="4389120"/>
          </a:xfrm>
          <a:prstGeom prst="ellipse">
            <a:avLst/>
          </a:prstGeom>
          <a:solidFill>
            <a:srgbClr val="10B981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207008" y="502920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YOUR SCHOOL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207008" y="86868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free pilot term. </a:t>
            </a:r>
            <a:pPr algn="ctr" indent="0" marL="0">
              <a:lnSpc>
                <a:spcPct val="106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to lose.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2148840"/>
            <a:ext cx="3611880" cy="20574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331720"/>
            <a:ext cx="402336" cy="402336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3317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97864" y="2295144"/>
            <a:ext cx="277063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platform, free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97864" y="2624328"/>
            <a:ext cx="2770632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module active for the pilot term — report cards, grading, attendance, fees, payroll and the parent portal.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3400" y="2148840"/>
            <a:ext cx="3611880" cy="20574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26280" y="2331720"/>
            <a:ext cx="402336" cy="402336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23317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38344" y="2295144"/>
            <a:ext cx="277063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help included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38344" y="2624328"/>
            <a:ext cx="2770632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help you set up class arms, staff and fee structures — and migrate from your current files if needed.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83880" y="2148840"/>
            <a:ext cx="3611880" cy="20574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66760" y="2331720"/>
            <a:ext cx="402336" cy="402336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8366760" y="23317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878824" y="2295144"/>
            <a:ext cx="277063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card, no contract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878824" y="2624328"/>
            <a:ext cx="2770632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a real term with real data. If you love it, we move you to a simple plan. If not, walk away.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207008" y="4617720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schools go live in </a:t>
            </a:r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a week</a:t>
            </a:r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start with one class arm and grow from there.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2920" y="644652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EduTrack — School Management Platform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28832" y="64465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05840" y="4846320"/>
            <a:ext cx="3840480" cy="3840480"/>
          </a:xfrm>
          <a:prstGeom prst="ellipse">
            <a:avLst/>
          </a:prstGeom>
          <a:solidFill>
            <a:srgbClr val="2563EB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1097280"/>
            <a:ext cx="3108960" cy="3108960"/>
          </a:xfrm>
          <a:prstGeom prst="ellipse">
            <a:avLst/>
          </a:prstGeom>
          <a:solidFill>
            <a:srgbClr val="A78BFA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207008" y="457200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07008" y="82296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it </a:t>
            </a:r>
            <a:pPr algn="ctr" indent="0" marL="0">
              <a:lnSpc>
                <a:spcPct val="106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</a:t>
            </a:r>
            <a:pPr algn="ctr" indent="0" marL="0">
              <a:lnSpc>
                <a:spcPct val="106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— a 3-minute demo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3611880" cy="1691640"/>
          </a:xfrm>
          <a:prstGeom prst="roundRect">
            <a:avLst>
              <a:gd name="adj" fmla="val 4865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965960"/>
            <a:ext cx="402336" cy="402336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965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97864" y="1929384"/>
            <a:ext cx="2770632" cy="432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report card generated in one click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97864" y="2435352"/>
            <a:ext cx="277063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a branded A4 PDF appear from a grading matrix.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43400" y="1783080"/>
            <a:ext cx="3611880" cy="1691640"/>
          </a:xfrm>
          <a:prstGeom prst="roundRect">
            <a:avLst>
              <a:gd name="adj" fmla="val 4865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26280" y="1965960"/>
            <a:ext cx="402336" cy="402336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4526280" y="1965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38344" y="1929384"/>
            <a:ext cx="277063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Grading as you type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38344" y="2258568"/>
            <a:ext cx="2770632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totals and grades compute live in the matrix.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83880" y="1783080"/>
            <a:ext cx="3611880" cy="1691640"/>
          </a:xfrm>
          <a:prstGeom prst="roundRect">
            <a:avLst>
              <a:gd name="adj" fmla="val 4865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66760" y="1965960"/>
            <a:ext cx="402336" cy="402336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8366760" y="1965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878824" y="1929384"/>
            <a:ext cx="2770632" cy="432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parent payment, start to finish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878824" y="2435352"/>
            <a:ext cx="277063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pays online → school confirms → balances update.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441448" y="3840480"/>
            <a:ext cx="7315200" cy="123444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41448" y="402336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Ferdinard Ashonibare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441448" y="44074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ferdinardoluwajuwonlo@gmail.com   ·   +234 913 736 0986   ·   WhatsApp / call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441448" y="47000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ferdinardashonibare.com   ·   Lagos, Nigeria — serving schools nationwide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276088" y="5330952"/>
            <a:ext cx="128016" cy="12801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2898648" y="5257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pilot term — register today, no card required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02920" y="644652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EduTrack — School Management Platform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28832" y="64465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EduTrack — School Management Platform</dc:title>
  <dc:subject>PptxGenJS Presentation</dc:subject>
  <dc:creator>Ferdinard Ashonibare</dc:creator>
  <cp:lastModifiedBy>Ferdinard Ashonibare</cp:lastModifiedBy>
  <cp:revision>1</cp:revision>
  <dcterms:created xsi:type="dcterms:W3CDTF">2026-08-05T15:29:59Z</dcterms:created>
  <dcterms:modified xsi:type="dcterms:W3CDTF">2026-08-05T15:29:59Z</dcterms:modified>
</cp:coreProperties>
</file>