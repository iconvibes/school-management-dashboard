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754880" cy="4754880"/>
          </a:xfrm>
          <a:prstGeom prst="ellipse">
            <a:avLst/>
          </a:prstGeom>
          <a:solidFill>
            <a:srgbClr val="2563EB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754880"/>
            <a:ext cx="4023360" cy="4023360"/>
          </a:xfrm>
          <a:prstGeom prst="ellipse">
            <a:avLst/>
          </a:prstGeom>
          <a:solidFill>
            <a:srgbClr val="A78BFA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4224528" y="566928"/>
            <a:ext cx="1188720" cy="11887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4224528" y="566928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0" y="566928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Edu</a:t>
            </a:r>
            <a:r>
              <a:rPr lang="en-US" sz="4400" b="1" dirty="0">
                <a:solidFill>
                  <a:srgbClr val="60A5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Track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07008" y="2103120"/>
            <a:ext cx="9784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ALL-IN-ONE CLOUD PLATFORM FOR MODERN SCHOOLS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2487168"/>
            <a:ext cx="97840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Run your entire school from
</a:t>
            </a:r>
            <a:r>
              <a:rPr lang="en-US" sz="3800" b="1" dirty="0">
                <a:solidFill>
                  <a:srgbClr val="60A5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cloud platform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64208" y="4041648"/>
            <a:ext cx="8869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report cards · Live grading · Daily attendance · Fee management · Teacher payroll · A parent portal — built for Nigerian schools, from JSS to SSS.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597000" y="486460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7000" y="4864608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modules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14904" y="4864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4904" y="4864608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portals · one login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64328" y="486460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4328" y="4864608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on </a:t>
            </a:r>
            <a:r>
              <a:rPr lang="en-US" sz="12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device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30872" y="4864608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0872" y="4864608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Installable as an </a:t>
            </a: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856" y="486460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8856" y="4864608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paper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93208" y="5541264"/>
            <a:ext cx="128016" cy="128016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2898648" y="546811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pilot  term for your school — no card required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13048" y="6053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Ferdinard Ashonibare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F43F5E">
              <a:alpha val="1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Running a school today is paper,
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notebooks &amp;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2-week report cards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5422392" cy="1700784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685800" y="20299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7864" y="1993392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cards take weeks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97864" y="2322576"/>
            <a:ext cx="4581144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Handwritten or Excel report cards mean a term-end crunch — teachers burn out and parents wait weeks for results.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47088"/>
            <a:ext cx="5422392" cy="1700784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6446520" y="20299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58584" y="1993392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Fees live in notebooks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58584" y="2322576"/>
            <a:ext cx="4581144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Balances tracked in jotter books and spreadsheets — collections leak and nobody knows who truly hasn't paid.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730752"/>
            <a:ext cx="5422392" cy="1700784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91363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</p:spPr>
      </p:sp>
      <p:sp>
        <p:nvSpPr>
          <p:cNvPr id="17" name="Text 15"/>
          <p:cNvSpPr/>
          <p:nvPr/>
        </p:nvSpPr>
        <p:spPr>
          <a:xfrm>
            <a:off x="685800" y="39136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97864" y="3877056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is guesswork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97864" y="4206240"/>
            <a:ext cx="4581144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single record of who's in class day to day — and nothing connects attendance to results or reports.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730752"/>
            <a:ext cx="5422392" cy="1700784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91363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6446520" y="39136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58584" y="3877056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Parents are in the dark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58584" y="4206240"/>
            <a:ext cx="4581144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Parents only hear about results, attendance and fees when they ask — or when it's too late.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565099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result: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painful term-end crunch, uncertain cash flow,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no single dashboard where the school owner can see everything.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663440"/>
            <a:ext cx="4023360" cy="4023360"/>
          </a:xfrm>
          <a:prstGeom prst="ellipse">
            <a:avLst/>
          </a:prstGeom>
          <a:solidFill>
            <a:srgbClr val="2563EB">
              <a:alpha val="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Edutrack puts your whole school
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 one cloud platform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" y="1847088"/>
            <a:ext cx="102229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login, four portals</a:t>
            </a: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Super Admin, Teacher, Student and Parent each see exactly what they should.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24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" y="2596896"/>
            <a:ext cx="102229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in any browser</a:t>
            </a: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phones, tablets, laptops and shared school computers. No software to install on school machines.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374136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7413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3346704"/>
            <a:ext cx="102229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Installable as an app</a:t>
            </a: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teachers and admins can pin Edutrack to their Android or Windows device like a native app.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123944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2394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6968" y="4096512"/>
            <a:ext cx="102229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&amp; secure</a:t>
            </a: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every school gets a fully isolated space; your data can never mix with another school's.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074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8464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558698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5074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518464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23160" y="558698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PORTALS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43400" y="5074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518464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43400" y="558698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5074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518464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63640" y="558698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NEEDED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Eight</a:t>
            </a: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modules. One platform.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6" name="Text 4"/>
          <p:cNvSpPr/>
          <p:nvPr/>
        </p:nvSpPr>
        <p:spPr>
          <a:xfrm>
            <a:off x="685800" y="1965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97864" y="1929384"/>
            <a:ext cx="18562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97864" y="2258568"/>
            <a:ext cx="1856232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A4 PDF, one click.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3584448" y="1965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96512" y="1929384"/>
            <a:ext cx="18562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Grading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96512" y="2258568"/>
            <a:ext cx="1856232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Grades compute live.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0216" y="178308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16" name="Text 14"/>
          <p:cNvSpPr/>
          <p:nvPr/>
        </p:nvSpPr>
        <p:spPr>
          <a:xfrm>
            <a:off x="6483096" y="1965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95160" y="1929384"/>
            <a:ext cx="18562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2258568"/>
            <a:ext cx="1856232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One-tap registers.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98864" y="178308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81744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</p:spPr>
      </p:sp>
      <p:sp>
        <p:nvSpPr>
          <p:cNvPr id="21" name="Text 19"/>
          <p:cNvSpPr/>
          <p:nvPr/>
        </p:nvSpPr>
        <p:spPr>
          <a:xfrm>
            <a:off x="9381744" y="1965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93808" y="1929384"/>
            <a:ext cx="18562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93808" y="2258568"/>
            <a:ext cx="1856232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balances &amp; receipts.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74904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9319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685800" y="39319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97864" y="3895344"/>
            <a:ext cx="18562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 Payroll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97864" y="4224528"/>
            <a:ext cx="1856232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Paid / pending at a glance.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01568" y="374904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4448" y="39319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31" name="Text 29"/>
          <p:cNvSpPr/>
          <p:nvPr/>
        </p:nvSpPr>
        <p:spPr>
          <a:xfrm>
            <a:off x="3584448" y="39319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096512" y="3895344"/>
            <a:ext cx="18562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Portal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96512" y="4224528"/>
            <a:ext cx="1856232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Results, fees &amp; Pay Now.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0216" y="374904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83096" y="39319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</p:spPr>
      </p:sp>
      <p:sp>
        <p:nvSpPr>
          <p:cNvPr id="36" name="Text 34"/>
          <p:cNvSpPr/>
          <p:nvPr/>
        </p:nvSpPr>
        <p:spPr>
          <a:xfrm>
            <a:off x="6483096" y="39319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95160" y="3895344"/>
            <a:ext cx="18562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Multi-Tenant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4224528"/>
            <a:ext cx="1856232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Schools fully isolated.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98864" y="374904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81744" y="39319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41" name="Text 39"/>
          <p:cNvSpPr/>
          <p:nvPr/>
        </p:nvSpPr>
        <p:spPr>
          <a:xfrm>
            <a:off x="9381744" y="39319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☁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893808" y="3895344"/>
            <a:ext cx="18562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Installable App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893808" y="4224528"/>
            <a:ext cx="1856232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&amp; Windows.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4937760"/>
            <a:ext cx="3840480" cy="3840480"/>
          </a:xfrm>
          <a:prstGeom prst="ellipse">
            <a:avLst/>
          </a:prstGeom>
          <a:solidFill>
            <a:srgbClr val="10B981">
              <a:alpha val="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SPOTLIGHT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cards in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minutes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, not weeks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37944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3794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" y="1810512"/>
            <a:ext cx="59253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Branded A4 PDF</a:t>
            </a:r>
            <a:r>
              <a:rPr lang="en-US" sz="12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with your school's logo and colors — printed or shared as-is.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" y="2578608"/>
            <a:ext cx="59253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positions, subject remarks, attendance and signature blocks</a:t>
            </a:r>
            <a:r>
              <a:rPr lang="en-US" sz="12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all on one card.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74136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7413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3346704"/>
            <a:ext cx="59253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in one click</a:t>
            </a:r>
            <a:r>
              <a:rPr lang="en-US" sz="12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by teachers, admins — and viewed instantly by students and parents.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142232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4223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6968" y="4114800"/>
            <a:ext cx="59253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Auto-ranked</a:t>
            </a:r>
            <a:r>
              <a:rPr lang="en-US" sz="12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the best students surface automatically, by average, per class arm.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78040" y="187452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057400"/>
            <a:ext cx="3931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0B98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weeks → 3 minutes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52360" y="2532888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handwriting to printed branded report cards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342900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611880"/>
            <a:ext cx="3931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0A5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52360" y="4087368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format — no more uneven handwriting or layout errors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TEACHERS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 instant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grading matrix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847088"/>
            <a:ext cx="5422392" cy="1810512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685800" y="20299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97864" y="1993392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scores, watch grades appear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97864" y="2322576"/>
            <a:ext cx="4581144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CA (out of 40) and Exam (out of 60) — totals and letter grades (A–F) compute live as teachers type. No calculators, no look-up tables.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47088"/>
            <a:ext cx="5422392" cy="1810512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11" name="Text 9"/>
          <p:cNvSpPr/>
          <p:nvPr/>
        </p:nvSpPr>
        <p:spPr>
          <a:xfrm>
            <a:off x="6446520" y="20299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58584" y="1993392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class arm, per subject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58584" y="2322576"/>
            <a:ext cx="4581144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stream — SS1 Science, SS1 Arts, JSS — keeps its own matrix and its own roster. Teachers only ever see their own classes.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5422392" cy="1810512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00507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16" name="Text 14"/>
          <p:cNvSpPr/>
          <p:nvPr/>
        </p:nvSpPr>
        <p:spPr>
          <a:xfrm>
            <a:off x="685800" y="40050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97864" y="3968496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save with safety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97864" y="4297680"/>
            <a:ext cx="4581144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Unsaved changes are flagged, and one click saves the whole class. Scores feed straight into report cards and rankings.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22192"/>
            <a:ext cx="5422392" cy="1810512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0507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</p:spPr>
      </p:sp>
      <p:sp>
        <p:nvSpPr>
          <p:cNvPr id="21" name="Text 19"/>
          <p:cNvSpPr/>
          <p:nvPr/>
        </p:nvSpPr>
        <p:spPr>
          <a:xfrm>
            <a:off x="6446520" y="40050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58584" y="3968496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students, auto-ranked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58584" y="4297680"/>
            <a:ext cx="4581144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dashboard surfaces the top performers by average — perfect for prizes, assembly and records.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Attendance in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tap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per student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685800" y="2011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7864" y="197510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registers per class arm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97864" y="2304288"/>
            <a:ext cx="2770632" cy="1472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 open their class, tap Present / Absent for each student, and save. Done in under a minute.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526280" y="2011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344" y="197510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Flows onto report cards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38344" y="2304288"/>
            <a:ext cx="2770632" cy="1472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 present are summarized per student per term — automatically included on every report card.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8366760" y="2011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197510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problems early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78824" y="2304288"/>
            <a:ext cx="2770632" cy="1472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Admins see trends across classes — who's slipping, which class has the lowest turnout, and when to call a parent.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is no longer guesswork — it's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record that works for you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every single day.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&amp; PARENTS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Fees that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collect themselves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856232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5623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59253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 structures per class arm &amp; term</a:t>
            </a:r>
            <a:r>
              <a:rPr lang="en-US" sz="12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set once, billed automatically.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624328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24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6968" y="2596896"/>
            <a:ext cx="59253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balances &amp; auto receipts</a:t>
            </a:r>
            <a:r>
              <a:rPr lang="en-US" sz="12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every student's paid / owing at a glance, plus a defaulter list.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92424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6968" y="3364992"/>
            <a:ext cx="59253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Parents log in, see balances, tap Pay Now</a:t>
            </a:r>
            <a:r>
              <a:rPr lang="en-US" sz="12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from their phone, anytime.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6052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6968" y="4133088"/>
            <a:ext cx="592531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Anti-fraud by design</a:t>
            </a:r>
            <a:r>
              <a:rPr lang="en-US" sz="12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online payments wait for your confirmation before balances move. You're always in control.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78040" y="187452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57400"/>
            <a:ext cx="3931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0B98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52360" y="2532888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fee collection when parents can pay online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42900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611880"/>
            <a:ext cx="3931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tap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452360" y="4087368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a parent to pay — and 1 tap for you to confirm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754880"/>
            <a:ext cx="3474720" cy="3474720"/>
          </a:xfrm>
          <a:prstGeom prst="ellipse">
            <a:avLst/>
          </a:prstGeom>
          <a:solidFill>
            <a:srgbClr val="A78BFA">
              <a:alpha val="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Teacher payroll,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always up to date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685800" y="2011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7864" y="197510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Paid / pending in one click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97864" y="2304288"/>
            <a:ext cx="2770632" cy="1426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 salaries as paid or pending as you disburse — the record updates instantly.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526280" y="2011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344" y="197510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Payroll 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38344" y="2304288"/>
            <a:ext cx="2770632" cy="1426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paid counts, pending counts and staff totals at a glance — no spreadsheet reconciliation.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</p:spPr>
      </p:sp>
      <p:sp>
        <p:nvSpPr>
          <p:cNvPr id="17" name="Text 15"/>
          <p:cNvSpPr/>
          <p:nvPr/>
        </p:nvSpPr>
        <p:spPr>
          <a:xfrm>
            <a:off x="8366760" y="20116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197510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staff directory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78824" y="2304288"/>
            <a:ext cx="2770632" cy="1426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teacher, their class arm and their payroll status — one list, always current.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2976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Payroll questions disappear — the answer is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one click away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&amp;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Secure by design,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private by default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847088"/>
            <a:ext cx="5422392" cy="1764792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</p:spPr>
      </p:sp>
      <p:sp>
        <p:nvSpPr>
          <p:cNvPr id="6" name="Text 4"/>
          <p:cNvSpPr/>
          <p:nvPr/>
        </p:nvSpPr>
        <p:spPr>
          <a:xfrm>
            <a:off x="685800" y="20299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97864" y="1993392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Multi-tenant isolation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97864" y="2322576"/>
            <a:ext cx="4581144" cy="1179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school's students, scores and finances are completely walled off from every other school — enforced at the data layer, not just the screen.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47088"/>
            <a:ext cx="5422392" cy="1764792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11" name="Text 9"/>
          <p:cNvSpPr/>
          <p:nvPr/>
        </p:nvSpPr>
        <p:spPr>
          <a:xfrm>
            <a:off x="6446520" y="20299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58584" y="1993392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portals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58584" y="2322576"/>
            <a:ext cx="4581144" cy="1179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 Admin, Teacher, Student and Parent each see exactly their own world — nothing more, nothing less.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422392" cy="1764792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97764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685800" y="39776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97864" y="3941064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auth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97864" y="4270248"/>
            <a:ext cx="4581144" cy="1179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Passwords are hashed, sessions use secure cookies, and every request is verified server-side.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422392" cy="1764792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97764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6446520" y="39776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58584" y="3941064"/>
            <a:ext cx="4581144" cy="2575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Cloud-hosted &amp; backed up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58584" y="4270248"/>
            <a:ext cx="4581144" cy="1179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from anywhere, on any device — with your data safe in the cloud, not in a filing cabinet.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023360" cy="4023360"/>
          </a:xfrm>
          <a:prstGeom prst="ellipse">
            <a:avLst/>
          </a:prstGeom>
          <a:solidFill>
            <a:srgbClr val="2563EB">
              <a:alpha val="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in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simple steps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29968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60A5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your school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72384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your account in under a minute. No card, no contract.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82880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029968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60A5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30168" y="2697480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 your school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3072384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class arms (SS1 Science, JSS…), the term calendar and your branding.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0216" y="182880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029968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60A5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28816" y="2697480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your people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3072384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Teachers, students and parents in minutes. Set fee structures per class.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98864" y="182880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7464" y="2029968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60A5F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427464" y="2697480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Grade, mark &amp; collect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27464" y="3072384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 grade and mark daily. Parents see everything and pay online. Print report cards.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6177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with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class arm this week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you'll be live before the next staff meeting.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PLATFORM, FOUR PORTALS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Everyone gets </a:t>
            </a: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their own 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02536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Super Admin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60A5FA">
              <a:alpha val="12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0487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 / PROPRIETOR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2825496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Everything: students, teachers, fees, payroll, report cards, and school settings.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002536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Teacher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30168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40487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CLASSROOM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30168" y="2825496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Their classes only: grade, mark attendance, add students, generate report cards.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0216" y="178308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2002536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Student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28816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240487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528816" y="2825496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Sees their own results, position, attendance and fee status — nothing else.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98864" y="178308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27464" y="2002536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Parent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427464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7464" y="240487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GUARDIAN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427464" y="2825496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Their children's report cards, attendance and fee balances — and Pay Now.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7200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browser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90118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 · tablet · laptop · shared PC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44348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57200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Installable app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490118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&amp; Windows, like native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83880" y="44348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57200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training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490118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 pick it up in minutes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389120" cy="4389120"/>
          </a:xfrm>
          <a:prstGeom prst="ellipse">
            <a:avLst/>
          </a:prstGeom>
          <a:solidFill>
            <a:srgbClr val="10B981">
              <a:alpha val="12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1207008" y="502920"/>
            <a:ext cx="9784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YOUR SCHOOL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07008" y="868680"/>
            <a:ext cx="97840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free pilot term. 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Nothing to lose.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6858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7864" y="229514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platform, 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97864" y="2624328"/>
            <a:ext cx="2770632" cy="1472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module active for the pilot term — report cards, grading, attendance, fees, payroll and the parent portal.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3317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452628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344" y="229514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help included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38344" y="2624328"/>
            <a:ext cx="2770632" cy="1472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help you set up class arms, staff and fee structures — and migrate from your current files if needed.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21488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3317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17" name="Text 15"/>
          <p:cNvSpPr/>
          <p:nvPr/>
        </p:nvSpPr>
        <p:spPr>
          <a:xfrm>
            <a:off x="836676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229514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card, no contract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78824" y="2624328"/>
            <a:ext cx="2770632" cy="1472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a real term with real data. If you love it, we move you to a simple plan. If not, walk away.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07008" y="4617720"/>
            <a:ext cx="9784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schools go live in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a week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start with one class arm and grow from there.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4846320"/>
            <a:ext cx="3840480" cy="3840480"/>
          </a:xfrm>
          <a:prstGeom prst="ellipse">
            <a:avLst/>
          </a:prstGeom>
          <a:solidFill>
            <a:srgbClr val="2563EB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-1097280"/>
            <a:ext cx="3108960" cy="3108960"/>
          </a:xfrm>
          <a:prstGeom prst="ellipse">
            <a:avLst/>
          </a:prstGeom>
          <a:solidFill>
            <a:srgbClr val="A78BFA">
              <a:alpha val="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1207008" y="457200"/>
            <a:ext cx="9784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822960"/>
            <a:ext cx="97840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See it </a:t>
            </a:r>
            <a:r>
              <a:rPr lang="en-US" sz="3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</a:t>
            </a:r>
            <a:r>
              <a:rPr lang="en-US" sz="3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— a 3-minute demo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685800" y="1965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97864" y="1929384"/>
            <a:ext cx="2770632" cy="432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report card generated in one click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97864" y="2435352"/>
            <a:ext cx="2770632" cy="929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a branded A4 PDF appear from a grading matrix.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4526280" y="1965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✎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38344" y="1929384"/>
            <a:ext cx="2770632" cy="234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Grading as you type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38344" y="2258568"/>
            <a:ext cx="2770632" cy="1106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totals and grades compute live in the matrix.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388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8366760" y="1965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78824" y="1929384"/>
            <a:ext cx="2770632" cy="432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parent payment, start to finish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78824" y="2435352"/>
            <a:ext cx="2770632" cy="929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pays online → school confirms → balances update.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41448" y="384048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402336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Ferdinard Ashonibare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41448" y="44074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ferdinardoluwajuwonlo@gmail.com   ·   +234 913 736 0986   ·   WhatsApp / call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41448" y="4700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ferdinardashonibare.com   ·   Lagos, Nigeria — serving schools nationwide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76088" y="5330952"/>
            <a:ext cx="128016" cy="128016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2898648" y="5257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pilot term — register today, no card required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7757</Words>
  <Application>WPS Presentation</Application>
  <PresentationFormat>On-screen Show (16:9)</PresentationFormat>
  <Paragraphs>478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EduTrack — School Management Platform</dc:title>
  <dc:creator>Ferdinard Ashonibare</dc:creator>
  <dc:subject>PptxGenJS Presentation</dc:subject>
  <cp:lastModifiedBy>Icon and d gamers</cp:lastModifiedBy>
  <cp:revision>2</cp:revision>
  <dcterms:created xsi:type="dcterms:W3CDTF">2026-08-05T15:29:00Z</dcterms:created>
  <dcterms:modified xsi:type="dcterms:W3CDTF">2026-08-11T16:15:28Z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ED0B80ED90AF47FD8670B14AAEBF2D3C_12</vt:lpwstr>
  </property>
</Properties>
</file>